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474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A DATA STORY  ·  HEALTH SPENDING vs. LONGEVITY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</a:rPr>
              <a:t>America’s longevity problem </a:t>
            </a:r>
            <a:r>
              <a:rPr sz="5000" b="1">
                <a:solidFill>
                  <a:srgbClr val="C0392B"/>
                </a:solidFill>
              </a:rPr>
              <a:t>isn’t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C0392B"/>
                </a:solidFill>
              </a:rPr>
              <a:t>budget problem.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</a:rPr>
              <a:t>It’s </a:t>
            </a:r>
            <a:r>
              <a:rPr sz="5000" b="1">
                <a:solidFill>
                  <a:srgbClr val="2BA88A"/>
                </a:solidFill>
              </a:rPr>
              <a:t>upstream</a:t>
            </a:r>
            <a:r>
              <a:rPr sz="5000" b="1">
                <a:solidFill>
                  <a:srgbClr val="FFFFFF"/>
                </a:solidFill>
              </a:rPr>
              <a:t> of the budget.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48056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8C8D8"/>
                </a:solidFill>
              </a:rPr>
              <a:t>Longer lives track education, lifestyle, demographics and how care is priced —</a:t>
            </a:r>
          </a:p>
          <a:p>
            <a:pPr algn="l"/>
            <a:r>
              <a:rPr sz="1350" b="0" i="0">
                <a:solidFill>
                  <a:srgbClr val="B8C8D8"/>
                </a:solidFill>
              </a:rPr>
              <a:t>and on every one of these, the country that spends the most falls behind.</a:t>
            </a:r>
          </a:p>
          <a:p>
            <a:pPr algn="l"/>
            <a:r>
              <a:rPr sz="1350" b="0" i="0">
                <a:solidFill>
                  <a:srgbClr val="B8C8D8"/>
                </a:solidFill>
              </a:rPr>
              <a:t>Here is what the highest spenders are doing differently.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448"/>
            <a:ext cx="5029200" cy="22860"/>
          </a:xfrm>
          <a:prstGeom prst="rect">
            <a:avLst/>
          </a:prstGeom>
          <a:solidFill>
            <a:srgbClr val="2B4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1480" y="605332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60258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602589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vs. the world’s 14 highest-income health spenders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Built on the attached Power BI analysis (World Bank WDI). New factors: OECD · WHO · World Bank.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The biggest spender on Earth buys </a:t>
            </a:r>
            <a:r>
              <a:rPr sz="2700" b="1">
                <a:solidFill>
                  <a:srgbClr val="C0392B"/>
                </a:solidFill>
              </a:rPr>
              <a:t>one of the shortest lives</a:t>
            </a:r>
            <a:r>
              <a:rPr sz="2700" b="1">
                <a:solidFill>
                  <a:srgbClr val="0F1F35"/>
                </a:solidFill>
              </a:rPr>
              <a:t> among rich nations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737360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5"/>
                </a:solidFill>
              </a:rPr>
              <a:t>Spending buys longevity — until it doesn’t.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514600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Above roughly $4,000 per person the curve flattens. Yet the </a:t>
            </a:r>
            <a:r>
              <a:rPr sz="1200" b="0">
                <a:solidFill>
                  <a:srgbClr val="C0392B"/>
                </a:solidFill>
              </a:rPr>
              <a:t>U.S. spends ~$8,400</a:t>
            </a:r>
            <a:r>
              <a:rPr sz="1200" b="0">
                <a:solidFill>
                  <a:srgbClr val="4B5563"/>
                </a:solidFill>
              </a:rPr>
              <a:t> and still lands </a:t>
            </a:r>
            <a:r>
              <a:rPr sz="1200" b="0">
                <a:solidFill>
                  <a:srgbClr val="2BA88A"/>
                </a:solidFill>
              </a:rPr>
              <a:t>5 years below Japan</a:t>
            </a:r>
            <a:r>
              <a:rPr sz="1200" b="0">
                <a:solidFill>
                  <a:srgbClr val="4B5563"/>
                </a:solidFill>
              </a:rPr>
              <a:t>, which spends less than half as much.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F35"/>
                </a:solidFill>
              </a:rPr>
              <a:t>So the question isn’t how much to spend. It’s what those dollars sit on top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World Bank, World Development Indicators (health expenditure &amp; life expectancy, 2000–2023 averages). Peer comparison restricted to the world’s highest-spending countries.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1 — EDUCATION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Countries that </a:t>
            </a:r>
            <a:r>
              <a:rPr sz="2700" b="1">
                <a:solidFill>
                  <a:srgbClr val="2BA88A"/>
                </a:solidFill>
              </a:rPr>
              <a:t>out-educate</a:t>
            </a:r>
            <a:r>
              <a:rPr sz="2700" b="1">
                <a:solidFill>
                  <a:srgbClr val="0F1F35"/>
                </a:solidFill>
              </a:rPr>
              <a:t> the U.S. tend to </a:t>
            </a:r>
            <a:r>
              <a:rPr sz="2700" b="1">
                <a:solidFill>
                  <a:srgbClr val="2BA88A"/>
                </a:solidFill>
              </a:rPr>
              <a:t>outlive</a:t>
            </a:r>
            <a:r>
              <a:rPr sz="2700" b="1">
                <a:solidFill>
                  <a:srgbClr val="0F1F35"/>
                </a:solidFill>
              </a:rPr>
              <a:t> it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0" y="1664208"/>
            <a:ext cx="182880" cy="182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851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95560" y="1664208"/>
            <a:ext cx="182880" cy="182880"/>
          </a:xfrm>
          <a:prstGeom prst="rect">
            <a:avLst/>
          </a:prstGeom>
          <a:solidFill>
            <a:srgbClr val="2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5159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03120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A88A"/>
                </a:solidFill>
              </a:rPr>
              <a:t>Japan tops the peer group at 533;
the U.S. sits mid-pack at 489.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01752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Skills predict the behaviors — diet,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screening, adherence — that compound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into longer lives. The high-education,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high-longevity countries cluster toward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the upper right; the U.S.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OECD PISA 2022 (mean of mathematics, reading &amp; science). Life expectancy: World Bank WDI, 2000–2023 avg.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2 — LIFESTYLE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The gap is written in waistlines: </a:t>
            </a:r>
            <a:r>
              <a:rPr sz="2700" b="1">
                <a:solidFill>
                  <a:srgbClr val="C0392B"/>
                </a:solidFill>
              </a:rPr>
              <a:t>43% obese vs. 5%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0010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828800"/>
            <a:ext cx="3611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</a:rPr>
              <a:t>Nearly 1 in 2 American adults</a:t>
            </a:r>
            <a:r>
              <a:rPr sz="1350" b="1">
                <a:solidFill>
                  <a:srgbClr val="0F1F35"/>
                </a:solidFill>
              </a:rPr>
              <a:t> has obesity —
</a:t>
            </a:r>
            <a:r>
              <a:rPr sz="1350" b="1">
                <a:solidFill>
                  <a:srgbClr val="2BA88A"/>
                </a:solidFill>
              </a:rPr>
              <a:t>almost 9× Japan’s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926080"/>
            <a:ext cx="3611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Obesity drives diabetes, heart disease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and several cancers — the conditions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that pull life expectancy down. No amount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of treatment spending offsets a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population-wide risk this large.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5029200"/>
            <a:ext cx="3611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This single factor does more to explain</a:t>
            </a:r>
          </a:p>
          <a:p>
            <a:pPr algn="l"/>
            <a:r>
              <a:rPr sz="1200" b="1" i="0">
                <a:solidFill>
                  <a:srgbClr val="0F1F35"/>
                </a:solidFill>
              </a:rPr>
              <a:t>the U.S. shortfall than the health budget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WHO Global Health Observatory — prevalence of obesity among adults, BMI ≥ 30 (%), 2022.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3 — POPULATION &amp;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Ageing isn’t the excuse — </a:t>
            </a:r>
            <a:r>
              <a:rPr sz="2700" b="1">
                <a:solidFill>
                  <a:srgbClr val="2BA88A"/>
                </a:solidFill>
              </a:rPr>
              <a:t>Japan is the oldest, and lives the longest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0" y="1664208"/>
            <a:ext cx="182880" cy="182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851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95560" y="1664208"/>
            <a:ext cx="182880" cy="182880"/>
          </a:xfrm>
          <a:prstGeom prst="rect">
            <a:avLst/>
          </a:prstGeom>
          <a:solidFill>
            <a:srgbClr val="2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5159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48840"/>
            <a:ext cx="3611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Some argue demographics explain the gap — that the U.S. is simply younger.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The age structure says otherwise.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246120"/>
            <a:ext cx="3611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The U.S. is the </a:t>
            </a:r>
            <a:r>
              <a:rPr sz="1200" b="0">
                <a:solidFill>
                  <a:srgbClr val="C0392B"/>
                </a:solidFill>
              </a:rPr>
              <a:t>youngest</a:t>
            </a:r>
            <a:r>
              <a:rPr sz="1200" b="0">
                <a:solidFill>
                  <a:srgbClr val="4B5563"/>
                </a:solidFill>
              </a:rPr>
              <a:t> of these peers
(18% over 65) yet sits </a:t>
            </a:r>
            <a:r>
              <a:rPr sz="1200" b="0">
                <a:solidFill>
                  <a:srgbClr val="C0392B"/>
                </a:solidFill>
              </a:rPr>
              <a:t>lowest</a:t>
            </a:r>
            <a:r>
              <a:rPr sz="1200" b="0">
                <a:solidFill>
                  <a:srgbClr val="4B5563"/>
                </a:solidFill>
              </a:rPr>
              <a:t>. Japan is the
</a:t>
            </a:r>
            <a:r>
              <a:rPr sz="1200" b="0">
                <a:solidFill>
                  <a:srgbClr val="2BA88A"/>
                </a:solidFill>
              </a:rPr>
              <a:t>oldest</a:t>
            </a:r>
            <a:r>
              <a:rPr sz="1200" b="0">
                <a:solidFill>
                  <a:srgbClr val="4B5563"/>
                </a:solidFill>
              </a:rPr>
              <a:t> (30%) and </a:t>
            </a:r>
            <a:r>
              <a:rPr sz="1200" b="0">
                <a:solidFill>
                  <a:srgbClr val="2BA88A"/>
                </a:solidFill>
              </a:rPr>
              <a:t>highest</a:t>
            </a:r>
            <a:r>
              <a:rPr sz="1200" b="0">
                <a:solidFill>
                  <a:srgbClr val="4B5563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5074920"/>
            <a:ext cx="3611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A younger population should make</a:t>
            </a:r>
          </a:p>
          <a:p>
            <a:pPr algn="l"/>
            <a:r>
              <a:rPr sz="1200" b="1" i="0">
                <a:solidFill>
                  <a:srgbClr val="0F1F35"/>
                </a:solidFill>
              </a:rPr>
              <a:t>longevity easier, not harder.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UN World Population Prospects / World Bank — population aged 65+ (% of total), 2024; population, 2023. Life expectancy: World Bank WDI.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4 — HEALTHCARE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America’s bill is high because its </a:t>
            </a:r>
            <a:r>
              <a:rPr sz="2700" b="1">
                <a:solidFill>
                  <a:srgbClr val="C0392B"/>
                </a:solidFill>
              </a:rPr>
              <a:t>prices</a:t>
            </a:r>
            <a:r>
              <a:rPr sz="2700" b="1">
                <a:solidFill>
                  <a:srgbClr val="0F1F35"/>
                </a:solidFill>
              </a:rPr>
              <a:t> are — not because it uses more care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0010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828800"/>
            <a:ext cx="3611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</a:rPr>
              <a:t>The U.S. spends ~$12,600 per person</a:t>
            </a:r>
            <a:r>
              <a:rPr sz="1350" b="1">
                <a:solidFill>
                  <a:srgbClr val="4B5563"/>
                </a:solidFill>
              </a:rPr>
              <a:t> — about </a:t>
            </a:r>
            <a:r>
              <a:rPr sz="1350" b="1">
                <a:solidFill>
                  <a:srgbClr val="2BA88A"/>
                </a:solidFill>
              </a:rPr>
              <a:t>2.2× Japan.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743200"/>
            <a:ext cx="3611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It isn’t that Americans see doctors more. It’s unit price: U.S. medical prices run about </a:t>
            </a:r>
            <a:r>
              <a:rPr sz="1200" b="0">
                <a:solidFill>
                  <a:srgbClr val="C0392B"/>
                </a:solidFill>
              </a:rPr>
              <a:t>43% above the OECD average</a:t>
            </a:r>
            <a:r>
              <a:rPr sz="1200" b="0">
                <a:solidFill>
                  <a:srgbClr val="4B5563"/>
                </a:solidFill>
              </a:rPr>
              <a:t> (price level 143 vs. 100), led by drugs and administration.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F35"/>
                </a:solidFill>
              </a:rPr>
              <a:t>Same care, higher price tag — dollars that never reach longer life.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World Bank WDI (spend per person, PPP, 2022). Price level: OECD, Society at a Glance 2024 / Health at a Glance (OECD avg = 100).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THE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548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One country, </a:t>
            </a:r>
            <a:r>
              <a:rPr sz="2700" b="1">
                <a:solidFill>
                  <a:srgbClr val="C0392B"/>
                </a:solidFill>
              </a:rPr>
              <a:t>four red flags</a:t>
            </a:r>
            <a:r>
              <a:rPr sz="2700" b="1">
                <a:solidFill>
                  <a:srgbClr val="0F1F35"/>
                </a:solidFill>
              </a:rPr>
              <a:t> — and a budget that can’t fix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92040" y="15727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2520" y="157276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75104"/>
            <a:ext cx="11338560" cy="201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993392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3969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Avg. life expectancy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084832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78 yrs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08483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BA88A"/>
                </a:solidFill>
              </a:rPr>
              <a:t>83 yrs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Health spend /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688336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$12,600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8833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$5,300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4670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Education — PISA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489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329184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BA88A"/>
                </a:solidFill>
              </a:rPr>
              <a:t>533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5020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Adult obesity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895344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42.9%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953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4.9%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07408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537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Population aged 65+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498848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17.9%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49884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29.8%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Medical price level (OECD = 100)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5102352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143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10235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≈100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35040"/>
            <a:ext cx="11338560" cy="201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10819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The U.S. leads only where leading hurts — spending and prices — and trails on the upstream factors that actually make lives longer.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Sources: World Bank WDI; OECD PISA 2022; WHO GHO 2022; UN/World Bank 2024; OECD price levels. Figures rounded.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247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Stop asking </a:t>
            </a:r>
            <a:r>
              <a:rPr sz="4400" b="1">
                <a:solidFill>
                  <a:srgbClr val="5D7A8F"/>
                </a:solidFill>
              </a:rPr>
              <a:t>how much</a:t>
            </a:r>
            <a:r>
              <a:rPr sz="4400" b="1">
                <a:solidFill>
                  <a:srgbClr val="FFFFFF"/>
                </a:solidFill>
              </a:rPr>
              <a:t> to spend.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Fix what the money </a:t>
            </a:r>
            <a:r>
              <a:rPr sz="4400" b="1">
                <a:solidFill>
                  <a:srgbClr val="2BA88A"/>
                </a:solidFill>
              </a:rPr>
              <a:t>sits on.</a:t>
            </a:r>
          </a:p>
        </p:txBody>
      </p:sp>
      <p:sp>
        <p:nvSpPr>
          <p:cNvPr id="4" name="Oval 3"/>
          <p:cNvSpPr/>
          <p:nvPr/>
        </p:nvSpPr>
        <p:spPr>
          <a:xfrm>
            <a:off x="411480" y="292608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Measure outcomes per dollar, not dollars.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4670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Benchmark health systems on life expectancy gained per dollar — the metric on which the U.S. ranks last among peers.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411480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Move marginal dollars upstream.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3542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Shift spending toward obesity prevention and education equity — the levers where Japan and Spain win on far smaller budgets.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530352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30352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Attack price, not just volume.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2414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Target the ~43% price premium — drug costs and administration — before adding another dollar of treatment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Built on the attached Power BI analysis (World Bank WDI) · added factors: OECD, WHO, World Bank.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