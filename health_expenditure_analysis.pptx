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474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</a:rPr>
              <a:t>A DATA STORY  ·  HEALTH SPENDING vs. LONGEVITY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11247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</a:rPr>
              <a:t>America’s longevity problem </a:t>
            </a:r>
            <a:r>
              <a:rPr sz="5000" b="1">
                <a:solidFill>
                  <a:srgbClr val="C0392B"/>
                </a:solidFill>
              </a:rPr>
              <a:t>isn’t 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C0392B"/>
                </a:solidFill>
              </a:rPr>
              <a:t>budget problem.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</a:rPr>
              <a:t>It’s </a:t>
            </a:r>
            <a:r>
              <a:rPr sz="5000" b="1">
                <a:solidFill>
                  <a:srgbClr val="2BA88A"/>
                </a:solidFill>
              </a:rPr>
              <a:t>upstream</a:t>
            </a:r>
            <a:r>
              <a:rPr sz="5000" b="1">
                <a:solidFill>
                  <a:srgbClr val="FFFFFF"/>
                </a:solidFill>
              </a:rPr>
              <a:t> of the budget.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480560"/>
            <a:ext cx="8961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8C8D8"/>
                </a:solidFill>
              </a:rPr>
              <a:t>Longer lives track education, lifestyle, demographics and how care is priced —</a:t>
            </a:r>
          </a:p>
          <a:p>
            <a:pPr algn="l"/>
            <a:r>
              <a:rPr sz="1350" b="0" i="0">
                <a:solidFill>
                  <a:srgbClr val="B8C8D8"/>
                </a:solidFill>
              </a:rPr>
              <a:t>and on every one of these, the country that spends the most falls behind.</a:t>
            </a:r>
          </a:p>
          <a:p>
            <a:pPr algn="l"/>
            <a:r>
              <a:rPr sz="1350" b="0" i="0">
                <a:solidFill>
                  <a:srgbClr val="B8C8D8"/>
                </a:solidFill>
              </a:rPr>
              <a:t>Here is what the highest spenders are doing differently.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870448"/>
            <a:ext cx="5029200" cy="22860"/>
          </a:xfrm>
          <a:prstGeom prst="rect">
            <a:avLst/>
          </a:prstGeom>
          <a:solidFill>
            <a:srgbClr val="2B4B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11480" y="6053328"/>
            <a:ext cx="201168" cy="201168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602589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</a:rPr>
              <a:t>United States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6025896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vs. the world’s 14 highest-income health spenders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55624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9CA3AF"/>
                </a:solidFill>
              </a:rPr>
              <a:t>Built on the attached Power BI analysis (World Bank WDI). New factors: OECD · WHO · World Bank.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4688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A88A"/>
                </a:solidFill>
              </a:rPr>
              <a:t>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F35"/>
                </a:solidFill>
              </a:rPr>
              <a:t>The biggest spender on Earth buys </a:t>
            </a:r>
            <a:r>
              <a:rPr sz="2700" b="1">
                <a:solidFill>
                  <a:srgbClr val="C0392B"/>
                </a:solidFill>
              </a:rPr>
              <a:t>one of the shortest lives</a:t>
            </a:r>
            <a:r>
              <a:rPr sz="2700" b="1">
                <a:solidFill>
                  <a:srgbClr val="0F1F35"/>
                </a:solidFill>
              </a:rPr>
              <a:t> among rich nations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8760"/>
            <a:ext cx="800100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737360"/>
            <a:ext cx="3611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1F35"/>
                </a:solidFill>
              </a:rPr>
              <a:t>Spending buys longevity — until it doesn’t.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2514600"/>
            <a:ext cx="3611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</a:rPr>
              <a:t>Above roughly $4,000 per person the curve flattens. Yet the </a:t>
            </a:r>
            <a:r>
              <a:rPr sz="1200" b="0">
                <a:solidFill>
                  <a:srgbClr val="C0392B"/>
                </a:solidFill>
              </a:rPr>
              <a:t>U.S. spends ~$8,400</a:t>
            </a:r>
            <a:r>
              <a:rPr sz="1200" b="0">
                <a:solidFill>
                  <a:srgbClr val="4B5563"/>
                </a:solidFill>
              </a:rPr>
              <a:t> and still lands </a:t>
            </a:r>
            <a:r>
              <a:rPr sz="1200" b="0">
                <a:solidFill>
                  <a:srgbClr val="2BA88A"/>
                </a:solidFill>
              </a:rPr>
              <a:t>5 years below Japan</a:t>
            </a:r>
            <a:r>
              <a:rPr sz="1200" b="0">
                <a:solidFill>
                  <a:srgbClr val="4B5563"/>
                </a:solidFill>
              </a:rPr>
              <a:t>, which spends less than half as much.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F35"/>
                </a:solidFill>
              </a:rPr>
              <a:t>So the question isn’t how much to spend. It’s what those dollars sit on top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5624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9CA3AF"/>
                </a:solidFill>
              </a:rPr>
              <a:t>Source: World Bank, World Development Indicators (health expenditure &amp; life expectancy, 2000–2023 averages). Focus: among the world’s highest spenders.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4688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A88A"/>
                </a:solidFill>
              </a:rPr>
              <a:t>FACTOR 1 — EDUCATION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F35"/>
                </a:solidFill>
              </a:rPr>
              <a:t>Countries that </a:t>
            </a:r>
            <a:r>
              <a:rPr sz="2700" b="1">
                <a:solidFill>
                  <a:srgbClr val="2BA88A"/>
                </a:solidFill>
              </a:rPr>
              <a:t>out-educate</a:t>
            </a:r>
            <a:r>
              <a:rPr sz="2700" b="1">
                <a:solidFill>
                  <a:srgbClr val="0F1F35"/>
                </a:solidFill>
              </a:rPr>
              <a:t> the U.S. tend to </a:t>
            </a:r>
            <a:r>
              <a:rPr sz="2700" b="1">
                <a:solidFill>
                  <a:srgbClr val="2BA88A"/>
                </a:solidFill>
              </a:rPr>
              <a:t>out-live</a:t>
            </a:r>
            <a:r>
              <a:rPr sz="2700" b="1">
                <a:solidFill>
                  <a:srgbClr val="0F1F35"/>
                </a:solidFill>
              </a:rPr>
              <a:t> it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8760"/>
            <a:ext cx="8001000" cy="5120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412480" y="1664208"/>
            <a:ext cx="182880" cy="1828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68512" y="163677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United States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95560" y="1664208"/>
            <a:ext cx="182880" cy="182880"/>
          </a:xfrm>
          <a:prstGeom prst="rect">
            <a:avLst/>
          </a:prstGeom>
          <a:solidFill>
            <a:srgbClr val="2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51592" y="163677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A88A"/>
                </a:solidFill>
              </a:rPr>
              <a:t>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103120"/>
            <a:ext cx="3611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BA88A"/>
                </a:solidFill>
              </a:rPr>
              <a:t>Japan tops the peer group at 533;
the U.S. sits mid-pack at 489.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017520"/>
            <a:ext cx="3611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Skills predict the behaviours — diet,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screening, adherence — that compound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into longer lives. The high-education,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high-longevity countries cluster toward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the upper right; the U.S. does 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5624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9CA3AF"/>
                </a:solidFill>
              </a:rPr>
              <a:t>Source: OECD PISA 2022 (mean of mathematics, reading &amp; science). Life expectancy: World Bank WDI, 2000–2023 avg.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4688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A88A"/>
                </a:solidFill>
              </a:rPr>
              <a:t>FACTOR 2 — LIFESTYLE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F35"/>
                </a:solidFill>
              </a:rPr>
              <a:t>The gap is written in waistlines: </a:t>
            </a:r>
            <a:r>
              <a:rPr sz="2700" b="1">
                <a:solidFill>
                  <a:srgbClr val="C0392B"/>
                </a:solidFill>
              </a:rPr>
              <a:t>43% obese vs. 5%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8001000" cy="5166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828800"/>
            <a:ext cx="3611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</a:rPr>
              <a:t>Nearly 1 in 2 American adults</a:t>
            </a:r>
            <a:r>
              <a:rPr sz="1350" b="1">
                <a:solidFill>
                  <a:srgbClr val="0F1F35"/>
                </a:solidFill>
              </a:rPr>
              <a:t> has obesity —
</a:t>
            </a:r>
            <a:r>
              <a:rPr sz="1350" b="1">
                <a:solidFill>
                  <a:srgbClr val="2BA88A"/>
                </a:solidFill>
              </a:rPr>
              <a:t>almost 9× Japan’s 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2926080"/>
            <a:ext cx="3611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Obesity drives diabetes, heart disease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and several cancers — the conditions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that pull life expectancy down. No amount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of treatment spending offsets a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population-wide risk this large.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5029200"/>
            <a:ext cx="3611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F35"/>
                </a:solidFill>
              </a:rPr>
              <a:t>This single factor does more to explain</a:t>
            </a:r>
          </a:p>
          <a:p>
            <a:pPr algn="l"/>
            <a:r>
              <a:rPr sz="1200" b="1" i="0">
                <a:solidFill>
                  <a:srgbClr val="0F1F35"/>
                </a:solidFill>
              </a:rPr>
              <a:t>the U.S. shortfall than the health budget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5624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9CA3AF"/>
                </a:solidFill>
              </a:rPr>
              <a:t>Source: WHO Global Health Observatory — prevalence of obesity among adults, BMI ≥ 30 (%), 2022.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4688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A88A"/>
                </a:solidFill>
              </a:rPr>
              <a:t>FACTOR 3 — POPULATION &amp; DEMOGRAPHICS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F35"/>
                </a:solidFill>
              </a:rPr>
              <a:t>Ageing isn’t the excuse — </a:t>
            </a:r>
            <a:r>
              <a:rPr sz="2700" b="1">
                <a:solidFill>
                  <a:srgbClr val="2BA88A"/>
                </a:solidFill>
              </a:rPr>
              <a:t>Japan is the oldest, and lives the longest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8760"/>
            <a:ext cx="8001000" cy="5120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412480" y="1664208"/>
            <a:ext cx="182880" cy="1828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68512" y="163677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United States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95560" y="1664208"/>
            <a:ext cx="182880" cy="182880"/>
          </a:xfrm>
          <a:prstGeom prst="rect">
            <a:avLst/>
          </a:prstGeom>
          <a:solidFill>
            <a:srgbClr val="2BA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51592" y="163677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A88A"/>
                </a:solidFill>
              </a:rPr>
              <a:t>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148840"/>
            <a:ext cx="3611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</a:rPr>
              <a:t>A common defence: “Americans die younger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because the U.S. is different.”</a:t>
            </a:r>
          </a:p>
          <a:p>
            <a:pPr algn="l"/>
            <a:r>
              <a:rPr sz="1200" b="0" i="0">
                <a:solidFill>
                  <a:srgbClr val="4B5563"/>
                </a:solidFill>
              </a:rPr>
              <a:t>The age structure says otherwise.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246120"/>
            <a:ext cx="3611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</a:rPr>
              <a:t>The U.S. is the </a:t>
            </a:r>
            <a:r>
              <a:rPr sz="1200" b="0">
                <a:solidFill>
                  <a:srgbClr val="C0392B"/>
                </a:solidFill>
              </a:rPr>
              <a:t>youngest</a:t>
            </a:r>
            <a:r>
              <a:rPr sz="1200" b="0">
                <a:solidFill>
                  <a:srgbClr val="4B5563"/>
                </a:solidFill>
              </a:rPr>
              <a:t> of these peers
(18% over 65) yet sits </a:t>
            </a:r>
            <a:r>
              <a:rPr sz="1200" b="0">
                <a:solidFill>
                  <a:srgbClr val="C0392B"/>
                </a:solidFill>
              </a:rPr>
              <a:t>lowest</a:t>
            </a:r>
            <a:r>
              <a:rPr sz="1200" b="0">
                <a:solidFill>
                  <a:srgbClr val="4B5563"/>
                </a:solidFill>
              </a:rPr>
              <a:t>. Japan is the
</a:t>
            </a:r>
            <a:r>
              <a:rPr sz="1200" b="0">
                <a:solidFill>
                  <a:srgbClr val="2BA88A"/>
                </a:solidFill>
              </a:rPr>
              <a:t>oldest</a:t>
            </a:r>
            <a:r>
              <a:rPr sz="1200" b="0">
                <a:solidFill>
                  <a:srgbClr val="4B5563"/>
                </a:solidFill>
              </a:rPr>
              <a:t> (30%) and </a:t>
            </a:r>
            <a:r>
              <a:rPr sz="1200" b="0">
                <a:solidFill>
                  <a:srgbClr val="2BA88A"/>
                </a:solidFill>
              </a:rPr>
              <a:t>highest</a:t>
            </a:r>
            <a:r>
              <a:rPr sz="1200" b="0">
                <a:solidFill>
                  <a:srgbClr val="4B5563"/>
                </a:solidFill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5074920"/>
            <a:ext cx="3611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F35"/>
                </a:solidFill>
              </a:rPr>
              <a:t>A younger population should make</a:t>
            </a:r>
          </a:p>
          <a:p>
            <a:pPr algn="l"/>
            <a:r>
              <a:rPr sz="1200" b="1" i="0">
                <a:solidFill>
                  <a:srgbClr val="0F1F35"/>
                </a:solidFill>
              </a:rPr>
              <a:t>longevity easier, not harder.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5624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9CA3AF"/>
                </a:solidFill>
              </a:rPr>
              <a:t>Source: UN World Population Prospects / World Bank — population aged 65+ (% of total), 2024; population, 2023. Life expectancy: World Bank WDI.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4688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A88A"/>
                </a:solidFill>
              </a:rPr>
              <a:t>FACTOR 4 — HEALTHCARE COSTS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F35"/>
                </a:solidFill>
              </a:rPr>
              <a:t>America’s bill is high because its </a:t>
            </a:r>
            <a:r>
              <a:rPr sz="2700" b="1">
                <a:solidFill>
                  <a:srgbClr val="C0392B"/>
                </a:solidFill>
              </a:rPr>
              <a:t>prices</a:t>
            </a:r>
            <a:r>
              <a:rPr sz="2700" b="1">
                <a:solidFill>
                  <a:srgbClr val="0F1F35"/>
                </a:solidFill>
              </a:rPr>
              <a:t> are — not because it uses more care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8001000" cy="5166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828800"/>
            <a:ext cx="3611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</a:rPr>
              <a:t>The U.S. spends ~$12,600 per person</a:t>
            </a:r>
            <a:r>
              <a:rPr sz="1350" b="1">
                <a:solidFill>
                  <a:srgbClr val="4B5563"/>
                </a:solidFill>
              </a:rPr>
              <a:t> — about </a:t>
            </a:r>
            <a:r>
              <a:rPr sz="1350" b="1">
                <a:solidFill>
                  <a:srgbClr val="2BA88A"/>
                </a:solidFill>
              </a:rPr>
              <a:t>2.2× Japan.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2743200"/>
            <a:ext cx="3611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B5563"/>
                </a:solidFill>
              </a:rPr>
              <a:t>It isn’t that Americans see doctors more. It’s unit price: U.S. medical prices run about </a:t>
            </a:r>
            <a:r>
              <a:rPr sz="1200" b="0">
                <a:solidFill>
                  <a:srgbClr val="C0392B"/>
                </a:solidFill>
              </a:rPr>
              <a:t>43% above the OECD average</a:t>
            </a:r>
            <a:r>
              <a:rPr sz="1200" b="0">
                <a:solidFill>
                  <a:srgbClr val="4B5563"/>
                </a:solidFill>
              </a:rPr>
              <a:t> (price level 143 vs. 100), led by drugs and administration.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F35"/>
                </a:solidFill>
              </a:rPr>
              <a:t>Same care, higher price tag — dollars that never reach longer life.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5624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9CA3AF"/>
                </a:solidFill>
              </a:rPr>
              <a:t>Source: World Bank WDI (spend per person, PPP, 2022). Price level: OECD, Society at a Glance 2024 / Health at a Glance (OECD avg = 100).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4688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A88A"/>
                </a:solidFill>
              </a:rPr>
              <a:t>THE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7548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F1F35"/>
                </a:solidFill>
              </a:rPr>
              <a:t>One country, </a:t>
            </a:r>
            <a:r>
              <a:rPr sz="2700" b="1">
                <a:solidFill>
                  <a:srgbClr val="C0392B"/>
                </a:solidFill>
              </a:rPr>
              <a:t>four red flags</a:t>
            </a:r>
            <a:r>
              <a:rPr sz="2700" b="1">
                <a:solidFill>
                  <a:srgbClr val="0F1F35"/>
                </a:solidFill>
              </a:rPr>
              <a:t> — and a budget that can’t fix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92040" y="157276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0392B"/>
                </a:solidFill>
              </a:rPr>
              <a:t>UNITED STATES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32520" y="157276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BA88A"/>
                </a:solidFill>
              </a:rPr>
              <a:t>JAPAN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975104"/>
            <a:ext cx="11338560" cy="201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993392"/>
            <a:ext cx="11430000" cy="60350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3969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74151"/>
                </a:solidFill>
              </a:rPr>
              <a:t>Avg. life expectancy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084832"/>
            <a:ext cx="2926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F1F35"/>
                </a:solidFill>
              </a:rPr>
              <a:t>78 yrs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084832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2BA88A"/>
                </a:solidFill>
              </a:rPr>
              <a:t>83 yrs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4320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74151"/>
                </a:solidFill>
              </a:rPr>
              <a:t>Health spend / person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688336"/>
            <a:ext cx="2926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C0392B"/>
                </a:solidFill>
              </a:rPr>
              <a:t>$12,600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2688336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F1F35"/>
                </a:solidFill>
              </a:rPr>
              <a:t>$5,300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00400"/>
            <a:ext cx="11430000" cy="60350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46704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74151"/>
                </a:solidFill>
              </a:rPr>
              <a:t>Education — PISA 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291840"/>
            <a:ext cx="2926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F1F35"/>
                </a:solidFill>
              </a:rPr>
              <a:t>489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3291840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2BA88A"/>
                </a:solidFill>
              </a:rPr>
              <a:t>533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50208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74151"/>
                </a:solidFill>
              </a:rPr>
              <a:t>Adult obesity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895344"/>
            <a:ext cx="2926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C0392B"/>
                </a:solidFill>
              </a:rPr>
              <a:t>42.9%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3895344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F1F35"/>
                </a:solidFill>
              </a:rPr>
              <a:t>4.9%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407408"/>
            <a:ext cx="11430000" cy="60350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55371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74151"/>
                </a:solidFill>
              </a:rPr>
              <a:t>Population aged 65+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4498848"/>
            <a:ext cx="2926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F1F35"/>
                </a:solidFill>
              </a:rPr>
              <a:t>17.9%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4498848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F1F35"/>
                </a:solidFill>
              </a:rPr>
              <a:t>29.8%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15721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74151"/>
                </a:solidFill>
              </a:rPr>
              <a:t>Medical price level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5102352"/>
            <a:ext cx="2926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C0392B"/>
                </a:solidFill>
              </a:rPr>
              <a:t>143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5102352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F1F35"/>
                </a:solidFill>
              </a:rPr>
              <a:t>≈100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6035040"/>
            <a:ext cx="11338560" cy="20116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108192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F35"/>
                </a:solidFill>
              </a:rPr>
              <a:t>The U.S. leads only where leading hurts — spending and prices — and trails on the upstream factors that actually make lives longer.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55624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9CA3AF"/>
                </a:solidFill>
              </a:rPr>
              <a:t>Sources: World Bank WDI; OECD PISA 2022; WHO GHO 2022; UN/World Bank 2024; OECD price levels. Figures rounded.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</a:rPr>
              <a:t>THE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49808"/>
            <a:ext cx="112471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</a:rPr>
              <a:t>Stop asking </a:t>
            </a:r>
            <a:r>
              <a:rPr sz="4400" b="1">
                <a:solidFill>
                  <a:srgbClr val="5D7A8F"/>
                </a:solidFill>
              </a:rPr>
              <a:t>how much</a:t>
            </a:r>
            <a:r>
              <a:rPr sz="4400" b="1">
                <a:solidFill>
                  <a:srgbClr val="FFFFFF"/>
                </a:solidFill>
              </a:rPr>
              <a:t> to spend.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</a:rPr>
              <a:t>Fix what the money </a:t>
            </a:r>
            <a:r>
              <a:rPr sz="4400" b="1">
                <a:solidFill>
                  <a:srgbClr val="2BA88A"/>
                </a:solidFill>
              </a:rPr>
              <a:t>sits on.</a:t>
            </a:r>
          </a:p>
        </p:txBody>
      </p:sp>
      <p:sp>
        <p:nvSpPr>
          <p:cNvPr id="4" name="Oval 3"/>
          <p:cNvSpPr/>
          <p:nvPr/>
        </p:nvSpPr>
        <p:spPr>
          <a:xfrm>
            <a:off x="411480" y="2926080"/>
            <a:ext cx="420624" cy="420624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926080"/>
            <a:ext cx="10789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Measure outcomes per dollar, not dollars.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346704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Benchmark health systems on life expectancy gained per dollar — the metric on which the U.S. ranks last among peers.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4114800"/>
            <a:ext cx="420624" cy="420624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114800"/>
            <a:ext cx="10789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Move marginal dollars upstream.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535424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Shift spending toward obesity prevention and education equity — the levers where Japan and Spain win on far smaller budgets.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5303520"/>
            <a:ext cx="420624" cy="420624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303520"/>
            <a:ext cx="10789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Attack price, not just volume.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724144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</a:rPr>
              <a:t>Target the ~43% price premium — drug costs and administration — before adding another dollar of treatment spend.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5624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9CA3AF"/>
                </a:solidFill>
              </a:rPr>
              <a:t>Built on the attached Power BI analysis (World Bank WDI) · added factors: OECD, WHO, World Bank.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