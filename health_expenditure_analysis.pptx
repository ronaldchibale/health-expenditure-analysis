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5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America's Longevity Problem</a:t>
            </a:r>
          </a:p>
          <a:p>
            <a:pPr algn="l"/>
            <a:r>
              <a:rPr sz="4000" b="1" i="0">
                <a:solidFill>
                  <a:srgbClr val="FFFFFF"/>
                </a:solidFill>
              </a:rPr>
              <a:t>Is Not a Budget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0CAF9"/>
                </a:solidFill>
              </a:rPr>
              <a:t>It is upstream of the budget.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51960"/>
            <a:ext cx="548640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4348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A data-driven investigation into health expenditure, life expectancy, and</a:t>
            </a:r>
          </a:p>
          <a:p>
            <a:pPr algn="l"/>
            <a:r>
              <a:rPr sz="1300" b="0" i="0">
                <a:solidFill>
                  <a:srgbClr val="B0BEC5"/>
                </a:solidFill>
              </a:rPr>
              <a:t>the upstream factors that explain America's $8,431-per-person paradox.</a:t>
            </a:r>
          </a:p>
          <a:p>
            <a:pPr algn="l"/>
            <a:r>
              <a:rPr sz="1300" b="0" i="0">
                <a:solidFill>
                  <a:srgbClr val="B0BEC5"/>
                </a:solidFill>
              </a:rPr>
              <a:t/>
            </a:r>
          </a:p>
          <a:p>
            <a:pPr algn="l"/>
            <a:r>
              <a:rPr sz="1300" b="0" i="0">
                <a:solidFill>
                  <a:srgbClr val="B0BEC5"/>
                </a:solidFill>
              </a:rPr>
              <a:t>Source: World Bank World Development Indicators  |  2000 –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252525"/>
                </a:solidFill>
              </a:rPr>
              <a:t>Across 140+ countries, spending more on health buys longer lives…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</a:rPr>
              <a:t>Pearson r = 0.70 on log scale — a strong global signal that investment matters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577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37373"/>
                </a:solidFill>
              </a:rPr>
              <a:t>Data: World Bank World Development Indicators. Health expenditure on log scale. PPP = Purchasing Power Parity.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252525"/>
                </a:solidFill>
              </a:rPr>
              <a:t>…but the world's biggest spenders tell a very different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</a:rPr>
              <a:t>Japan reaches 84 years on $3,640 per person. The US spends $8,431 and reaches only 78.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577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37373"/>
                </a:solidFill>
              </a:rPr>
              <a:t>Data: World Bank World Development Indicators. LE = Life Expectancy.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252525"/>
                </a:solidFill>
              </a:rPr>
              <a:t>Among high-income peers, the United States is a clear outlier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</a:rPr>
              <a:t>Every comparable country achieves the same or better life expectancy at substantially lower cost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229600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41080" y="960120"/>
            <a:ext cx="3337560" cy="1417320"/>
          </a:xfrm>
          <a:prstGeom prst="rect">
            <a:avLst/>
          </a:prstGeom>
          <a:solidFill>
            <a:srgbClr val="D8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100584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The US–Japan gap: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5 fewer years of life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at 2.3× the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1080" y="2514600"/>
            <a:ext cx="3337560" cy="4069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265176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2525"/>
                </a:solidFill>
              </a:rPr>
              <a:t>The US outspends Japan by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$4,791 per person per year.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/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Multiplied across 330 million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Americans, that is ~$1.6 trillion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in annual excess health spend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with worse outcomes to show for it.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/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The problem is systemic,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not financial.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37373"/>
                </a:solidFill>
              </a:rPr>
              <a:t>Data: World Bank World Development Indicators.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2525"/>
                </a:solidFill>
              </a:rPr>
              <a:t>If it's not money, then what drives the gap?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</a:rPr>
              <a:t>Three upstream factors explain most of the difference in health outcomes among wealthy 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88720"/>
            <a:ext cx="3611880" cy="4663440"/>
          </a:xfrm>
          <a:prstGeom prst="rect">
            <a:avLst/>
          </a:prstGeom>
          <a:solidFill>
            <a:srgbClr val="D8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32588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192024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Lifestyle &amp;</a:t>
            </a:r>
          </a:p>
          <a:p>
            <a:pPr algn="l"/>
            <a:r>
              <a:rPr sz="1700" b="1" i="0">
                <a:solidFill>
                  <a:srgbClr val="FFFFFF"/>
                </a:solidFill>
              </a:rPr>
              <a:t>Obesity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2743200"/>
            <a:ext cx="3337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The US adult obesity rate (36%) is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nearly 3× Japan's (4%) and France's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(22%). Obesity is the single largest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driver of preventable chronic disease.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188720"/>
            <a:ext cx="3611880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1" y="132588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1" y="192024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Education &amp;</a:t>
            </a:r>
          </a:p>
          <a:p>
            <a:pPr algn="l"/>
            <a:r>
              <a:rPr sz="1700" b="1" i="0">
                <a:solidFill>
                  <a:srgbClr val="FFFFFF"/>
                </a:solidFill>
              </a:rPr>
              <a:t>Health Literacy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1" y="2743200"/>
            <a:ext cx="3337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Countries with strong public health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education programs see 15–25%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lower preventable mortality and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higher system efficiency per dollar.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19" y="1188720"/>
            <a:ext cx="3611880" cy="466344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1" y="132588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1" y="192024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System Design &amp;</a:t>
            </a:r>
          </a:p>
          <a:p>
            <a:pPr algn="l"/>
            <a:r>
              <a:rPr sz="1700" b="1" i="0">
                <a:solidFill>
                  <a:srgbClr val="FFFFFF"/>
                </a:solidFill>
              </a:rPr>
              <a:t>Primary 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1" y="2743200"/>
            <a:ext cx="3337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Universal primary care access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reduces costly hospital admissions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and concentrates spend where it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has the highest marginal return.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37373"/>
                </a:solidFill>
              </a:rPr>
              <a:t>Source: WHO Global Health Observatory, OECD Health at a Glance 2023, World Bank WDI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252525"/>
                </a:solidFill>
              </a:rPr>
              <a:t>Factor 1: America is the most obese wealthy nation — and it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</a:rPr>
              <a:t>Higher obesity rates correlate strongly with lower life expectancy, even among the world's richest countries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04672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58200" y="960120"/>
            <a:ext cx="352044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1430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87000"/>
                </a:solidFill>
              </a:rPr>
              <a:t>36.2%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6642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</a:rPr>
              <a:t>US adult obesity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377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87000"/>
                </a:solidFill>
              </a:rPr>
              <a:t>3.4×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8986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</a:rPr>
              <a:t>higher than Japan (10.7%)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6118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87000"/>
                </a:solidFill>
              </a:rPr>
              <a:t>$1,861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1330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</a:rPr>
              <a:t>annual per-person</a:t>
            </a:r>
          </a:p>
          <a:p>
            <a:pPr algn="l"/>
            <a:r>
              <a:rPr sz="1000" b="0" i="0">
                <a:solidFill>
                  <a:srgbClr val="737373"/>
                </a:solidFill>
              </a:rPr>
              <a:t>cost of obesity in the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4846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87000"/>
                </a:solidFill>
              </a:rPr>
              <a:t>#1 of 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53675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</a:rPr>
              <a:t>OECD ranking for</a:t>
            </a:r>
          </a:p>
          <a:p>
            <a:pPr algn="l"/>
            <a:r>
              <a:rPr sz="1000" b="0" i="0">
                <a:solidFill>
                  <a:srgbClr val="737373"/>
                </a:solidFill>
              </a:rPr>
              <a:t>obesity prevalence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37373"/>
                </a:solidFill>
              </a:rPr>
              <a:t>Data: WHO Global Health Observatory, OECD Health Statistics.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252525"/>
                </a:solidFill>
              </a:rPr>
              <a:t>Factor 2: Education shapes health behaviour — and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</a:rPr>
              <a:t>Countries where populations have more schooling show better preventive care uptake and lower chronic disease burden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04672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58200" y="960120"/>
            <a:ext cx="352044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143000"/>
            <a:ext cx="3246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2525"/>
                </a:solidFill>
              </a:rPr>
              <a:t>Health literacy — the ability to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understand and act on health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information — varies significantly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across OECD nations.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/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Countries investing in public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health education achieve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15–25% lower preventable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mortality rates (OECD, 2023).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/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Japan's school health programme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reaches children from age 6,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embedding nutrition norms</a:t>
            </a:r>
          </a:p>
          <a:p>
            <a:pPr algn="l"/>
            <a:r>
              <a:rPr sz="1050" b="0" i="0">
                <a:solidFill>
                  <a:srgbClr val="252525"/>
                </a:solidFill>
              </a:rPr>
              <a:t>decades before disease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37373"/>
                </a:solidFill>
              </a:rPr>
              <a:t>Data: UNDP Human Development Index, WHO Global Health Observatory.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252525"/>
                </a:solidFill>
              </a:rPr>
              <a:t>Factor 3: The US gets the fewest life-years per dollar of any peer 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</a:rPr>
              <a:t>Life expectancy years per $1,000 spent — a simple metric of what each country buys with its health investment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62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37373"/>
                </a:solidFill>
              </a:rPr>
              <a:t>Data: World Bank World Development Indicators. Efficiency = Life Expectancy ÷ (Health Expenditure per capita / 1,000).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252525"/>
                </a:solidFill>
              </a:rPr>
              <a:t>High-performing systems share three upstream investments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</a:rPr>
              <a:t>The common thread among Japan, Spain, Italy, and France is not their hospital budgets — it's what happens before the hospital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3566160" cy="548640"/>
          </a:xfrm>
          <a:prstGeom prst="rect">
            <a:avLst/>
          </a:prstGeom>
          <a:solidFill>
            <a:srgbClr val="004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20700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115568"/>
            <a:ext cx="1828800" cy="548640"/>
          </a:xfrm>
          <a:prstGeom prst="rect">
            <a:avLst/>
          </a:prstGeom>
          <a:solidFill>
            <a:srgbClr val="004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78224" y="120700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United States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115568"/>
            <a:ext cx="2560320" cy="548640"/>
          </a:xfrm>
          <a:prstGeom prst="rect">
            <a:avLst/>
          </a:prstGeom>
          <a:solidFill>
            <a:srgbClr val="004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8464" y="120700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Japan / Spain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1115568"/>
            <a:ext cx="2743200" cy="548640"/>
          </a:xfrm>
          <a:prstGeom prst="rect">
            <a:avLst/>
          </a:prstGeom>
          <a:solidFill>
            <a:srgbClr val="004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0224" y="120700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64208"/>
            <a:ext cx="356616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2525"/>
                </a:solidFill>
              </a:rPr>
              <a:t>Adult obesity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1664208"/>
            <a:ext cx="18288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78224" y="17373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87000"/>
                </a:solidFill>
              </a:rPr>
              <a:t>36.2%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664208"/>
            <a:ext cx="256032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8464" y="1737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7C10"/>
                </a:solidFill>
              </a:rPr>
              <a:t>4–24%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1664208"/>
            <a:ext cx="2743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0224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2525"/>
                </a:solidFill>
              </a:rPr>
              <a:t>US +12–32 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12848"/>
            <a:ext cx="35661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2525"/>
                </a:solidFill>
              </a:rPr>
              <a:t>Preventable mortality /100K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212848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78224" y="2286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87000"/>
                </a:solidFill>
              </a:rPr>
              <a:t>247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212848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8464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7C10"/>
                </a:solidFill>
              </a:rPr>
              <a:t>110–130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2212848"/>
            <a:ext cx="2743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0224" y="2286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2525"/>
                </a:solidFill>
              </a:rPr>
              <a:t>US −50%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761488"/>
            <a:ext cx="356616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2525"/>
                </a:solidFill>
              </a:rPr>
              <a:t>Primary care visits / capita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2761488"/>
            <a:ext cx="18288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78224" y="2834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87000"/>
                </a:solidFill>
              </a:rPr>
              <a:t>3.9 / yr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761488"/>
            <a:ext cx="256032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8464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7C10"/>
                </a:solidFill>
              </a:rPr>
              <a:t>12–13 / yr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2761488"/>
            <a:ext cx="2743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50224" y="2834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2525"/>
                </a:solidFill>
              </a:rPr>
              <a:t>US 3× lower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310128"/>
            <a:ext cx="35661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3383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2525"/>
                </a:solidFill>
              </a:rPr>
              <a:t>Prevention % of health spend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3310128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78224" y="3383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87000"/>
                </a:solidFill>
              </a:rPr>
              <a:t>2.9%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310128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8464" y="3383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7C10"/>
                </a:solidFill>
              </a:rPr>
              <a:t>5–7%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3310128"/>
            <a:ext cx="2743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50224" y="3383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2525"/>
                </a:solidFill>
              </a:rPr>
              <a:t>US −2 to −4 pp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858768"/>
            <a:ext cx="356616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2525"/>
                </a:solidFill>
              </a:rPr>
              <a:t>Life expectancy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23360" y="3858768"/>
            <a:ext cx="18288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78224" y="3931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87000"/>
                </a:solidFill>
              </a:rPr>
              <a:t>78.5 yrs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858768"/>
            <a:ext cx="256032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8464" y="3931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7C10"/>
                </a:solidFill>
              </a:rPr>
              <a:t>83–84 yrs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3858768"/>
            <a:ext cx="2743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50224" y="39319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2525"/>
                </a:solidFill>
              </a:rPr>
              <a:t>US −5 yrs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102352"/>
            <a:ext cx="11430000" cy="868680"/>
          </a:xfrm>
          <a:prstGeom prst="rect">
            <a:avLst/>
          </a:prstGeom>
          <a:solidFill>
            <a:srgbClr val="004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5212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The gap is not in hospital equipment — it's in what happens before people need a hospital.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37373"/>
                </a:solidFill>
              </a:rPr>
              <a:t>Source: OECD Health at a Glance 2023, WHO Global Health Observatory, World Bank WDI.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5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question is no longer how much to spend.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CAF9"/>
                </a:solidFill>
              </a:rPr>
              <a:t>It's what the highest-spending countries are doing differently — and what they should stop doing.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373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Redirect spend upstream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12848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Raise prevention and primary care from 2.9% to 6%+ of health spend. Every $1 in prevention saves $5–14 in downstream treatment costs.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2004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Address obesity structurally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75888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Implement population-level interventions: sugar taxes, food labelling reform, school nutrition programmes. These are public health investments, not individual choices.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6634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Redesign system incentives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138928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Shift from fee-for-service to outcomes-based payment models. Reward providers for keeping populations healthy, not for volume of procedures.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236208"/>
            <a:ext cx="1078992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35508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CAF9"/>
                </a:solidFill>
              </a:rPr>
              <a:t>America's longevity problem is not a budget problem — it is upstream of the budget.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